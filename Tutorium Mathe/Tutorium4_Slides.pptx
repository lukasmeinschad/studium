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8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D4C"/>
    <a:srgbClr val="EB8B2D"/>
    <a:srgbClr val="343433"/>
    <a:srgbClr val="636462"/>
    <a:srgbClr val="777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1" autoAdjust="0"/>
    <p:restoredTop sz="94751"/>
  </p:normalViewPr>
  <p:slideViewPr>
    <p:cSldViewPr snapToGrid="0" snapToObjects="1" showGuides="1">
      <p:cViewPr>
        <p:scale>
          <a:sx n="127" d="100"/>
          <a:sy n="127" d="100"/>
        </p:scale>
        <p:origin x="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70" d="100"/>
          <a:sy n="170" d="100"/>
        </p:scale>
        <p:origin x="648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F9A7093-B570-B193-D7A9-C5C63DBA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BD1486-6470-ADF8-DE88-7EFF4FFC6F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5FBCA-7827-204B-8916-3BD441F72BB8}" type="datetimeFigureOut">
              <a:rPr lang="de-DE" smtClean="0"/>
              <a:t>17.11.24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AD9848-4544-6C88-D485-3E2FFA25B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54C57B-ECE4-849C-BD69-0C6CD30F61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2C0D7-0313-8748-AFD1-FE9CFDB25C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87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CE5A1-857B-214D-8BEE-AF65CEFCD544}" type="datetimeFigureOut">
              <a:rPr lang="de-DE" smtClean="0"/>
              <a:t>17.11.24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31BCB-E4CC-CD41-BF0E-941D9510A3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FC01E-4815-58CB-245F-C6264A32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130142"/>
            <a:ext cx="10858029" cy="4746783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864711B-B66A-4977-94BF-C8F79667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ADEC43C-9F10-44C2-948C-1CE9C0008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62F2930-2022-4645-AD40-1CBBC51C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DDB4200-B07A-411A-9FE4-AD38EF84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54240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0E2EE-6D34-4B5B-AA4B-573B592F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CA28F89-96FF-4583-812E-E0A19D070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FFC789B-2A81-4438-874D-C120BD958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5BED4D0-8BC2-43F5-A2D4-B6152750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7351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763" y="1130400"/>
            <a:ext cx="5273191" cy="475138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en-US" dirty="0"/>
            </a:lvl5pPr>
          </a:lstStyle>
          <a:p>
            <a:pPr marL="228594" lvl="0" indent="-228594">
              <a:buFont typeface="Wingdings" pitchFamily="2" charset="2"/>
              <a:buChar char="§"/>
            </a:pPr>
            <a:r>
              <a:rPr lang="de-DE" dirty="0"/>
              <a:t>Mastertextformat bearbeiten</a:t>
            </a:r>
          </a:p>
          <a:p>
            <a:pPr marL="685783" lvl="1" indent="-228594">
              <a:buFont typeface="Wingdings" pitchFamily="2" charset="2"/>
              <a:buChar char="§"/>
            </a:pPr>
            <a:r>
              <a:rPr lang="de-DE" dirty="0"/>
              <a:t>Zweite Ebene</a:t>
            </a:r>
          </a:p>
          <a:p>
            <a:pPr marL="1142971" lvl="2" indent="-228594">
              <a:buFont typeface="Wingdings" pitchFamily="2" charset="2"/>
              <a:buChar char="§"/>
            </a:pPr>
            <a:r>
              <a:rPr lang="de-DE" dirty="0"/>
              <a:t>Dritte Ebene</a:t>
            </a:r>
          </a:p>
          <a:p>
            <a:pPr marL="1600160" lvl="3" indent="-228594">
              <a:buFont typeface="Wingdings" pitchFamily="2" charset="2"/>
              <a:buChar char="§"/>
            </a:pPr>
            <a:r>
              <a:rPr lang="de-DE" dirty="0"/>
              <a:t>Vierte Ebene</a:t>
            </a:r>
          </a:p>
          <a:p>
            <a:pPr marL="2057349" lvl="4" indent="-228594">
              <a:buFont typeface="Wingdings" pitchFamily="2" charset="2"/>
              <a:buChar char="§"/>
            </a:pPr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F25E90-E439-A938-CC55-2C9384E72B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9368" y="1130400"/>
            <a:ext cx="5274000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D2A0F63-3047-48A0-8844-706F94AA5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1F5EA41-68C8-4101-A777-DA8D66CDA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A835BB1-C341-484D-9478-FD7AC6FE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3CABCA6-8A44-4510-88DF-105258291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4687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0969" y="1797050"/>
            <a:ext cx="5274000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24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3EBBEB-ABBC-395C-14A7-2F7F0FAE60BA}"/>
              </a:ext>
            </a:extLst>
          </p:cNvPr>
          <p:cNvSpPr txBox="1"/>
          <p:nvPr userDrawn="1"/>
        </p:nvSpPr>
        <p:spPr>
          <a:xfrm>
            <a:off x="770969" y="1126927"/>
            <a:ext cx="5273999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689F5-31B5-F924-6649-EBD229A11FB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9368" y="1797050"/>
            <a:ext cx="5274000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24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CADC7D-CFAE-D0EC-0BBB-45D49E9E25BF}"/>
              </a:ext>
            </a:extLst>
          </p:cNvPr>
          <p:cNvSpPr txBox="1"/>
          <p:nvPr userDrawn="1"/>
        </p:nvSpPr>
        <p:spPr>
          <a:xfrm>
            <a:off x="6359368" y="1127050"/>
            <a:ext cx="5274000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139E03F-37B4-4FFD-BF3A-B610654DE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164399-33DF-4CA4-BB06-BBFA3298F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524F7D8-13D0-4D7C-BB66-DD028804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0BA7D5B-6828-4902-BCFD-FDFC10141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1244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9368" y="1130400"/>
            <a:ext cx="5274000" cy="4756918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799" y="1130400"/>
            <a:ext cx="5274000" cy="475691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FA8C76D-FB78-46AD-9126-06C0DD97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C3B2896-5CE0-4AE2-BF67-5854CC0A1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164C183-DEFE-4514-A946-E88C7F47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93F9A72-D976-44B9-928D-DE07A3A5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157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9368" y="1130400"/>
            <a:ext cx="5274000" cy="4751386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6A265-800A-43D6-2F98-C10611F54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2" y="1130400"/>
            <a:ext cx="5274000" cy="47513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4E2278B-2CE9-430A-902D-4C5232CC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AC6CA4D-A3B1-475B-ABEA-939A8969F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4C3248B-5FBB-4845-9AAC-068CB56D4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600DB79-799A-4AB8-8AF9-3C91DADD7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1991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+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E3D3830-AFB1-4618-B279-6F686B2B65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1700213"/>
            <a:ext cx="10866437" cy="1145537"/>
          </a:xfrm>
        </p:spPr>
        <p:txBody>
          <a:bodyPr>
            <a:noAutofit/>
          </a:bodyPr>
          <a:lstStyle>
            <a:lvl1pPr marL="623888" indent="-358775">
              <a:buNone/>
              <a:defRPr sz="2000" i="1"/>
            </a:lvl1pPr>
            <a:lvl2pPr marL="457200" indent="0">
              <a:buNone/>
              <a:defRPr sz="2000" i="1"/>
            </a:lvl2pPr>
            <a:lvl3pPr marL="914400" indent="0">
              <a:buNone/>
              <a:defRPr sz="2000" i="1"/>
            </a:lvl3pPr>
            <a:lvl4pPr marL="1371600" indent="0">
              <a:buNone/>
              <a:defRPr sz="2000" i="1"/>
            </a:lvl4pPr>
            <a:lvl5pPr marL="1828800" indent="0">
              <a:buNone/>
              <a:defRPr sz="2000" i="1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D230031-93FC-50BC-76F9-90A026F087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1130400"/>
            <a:ext cx="10865960" cy="48005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C4D4C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5D40C19-5571-4E6B-92FB-0DB032155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6A666AF-0FF4-4744-939E-6225A79AC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3F18671-40F8-476D-AA96-093766E4A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AAADEFE-31C8-48CD-9129-6646A9162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C19150B-8033-4BB0-A118-14B6BAB79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2949575"/>
            <a:ext cx="10848975" cy="29273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6364703-4655-3A8A-7A24-521B94AB028D}"/>
              </a:ext>
            </a:extLst>
          </p:cNvPr>
          <p:cNvCxnSpPr/>
          <p:nvPr userDrawn="1"/>
        </p:nvCxnSpPr>
        <p:spPr>
          <a:xfrm>
            <a:off x="863269" y="1797050"/>
            <a:ext cx="0" cy="96010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369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9CEA406-B33A-474E-AD25-1543EBC50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A45CBD-1CCA-4B41-9006-CD2C63922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B5B30B-5CF3-41A4-91A9-CC3AAAC64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6765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Social Media+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7090AD0-FD2A-CA7D-BBD5-5B2FCD0D8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240682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6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18396C8-6250-4EB9-A9AF-4941536C768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0" y="0"/>
            <a:ext cx="12250813" cy="689108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408" y="1130142"/>
            <a:ext cx="10865960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94" lvl="0" indent="-228594">
              <a:buFont typeface="Wingdings" pitchFamily="2" charset="2"/>
              <a:buChar char="§"/>
            </a:pPr>
            <a:r>
              <a:rPr lang="de-DE" dirty="0"/>
              <a:t>Mastertextformat bearbeiten</a:t>
            </a:r>
          </a:p>
          <a:p>
            <a:pPr marL="685783" lvl="1" indent="-228594">
              <a:buFont typeface="Wingdings" pitchFamily="2" charset="2"/>
              <a:buChar char="§"/>
            </a:pPr>
            <a:r>
              <a:rPr lang="de-DE" dirty="0"/>
              <a:t>Zweite Ebene</a:t>
            </a:r>
          </a:p>
          <a:p>
            <a:pPr marL="1142971" lvl="2" indent="-228594">
              <a:buFont typeface="Wingdings" pitchFamily="2" charset="2"/>
              <a:buChar char="§"/>
            </a:pPr>
            <a:r>
              <a:rPr lang="de-DE" dirty="0"/>
              <a:t>Dritte Ebene</a:t>
            </a:r>
          </a:p>
          <a:p>
            <a:pPr marL="1600160" lvl="3" indent="-228594">
              <a:buFont typeface="Wingdings" pitchFamily="2" charset="2"/>
              <a:buChar char="§"/>
            </a:pPr>
            <a:r>
              <a:rPr lang="de-DE" dirty="0"/>
              <a:t>Vierte Ebene</a:t>
            </a:r>
          </a:p>
          <a:p>
            <a:pPr marL="2057349" lvl="4" indent="-228594">
              <a:buFont typeface="Wingdings" pitchFamily="2" charset="2"/>
              <a:buChar char="§"/>
            </a:pPr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November 24</a:t>
            </a:fld>
            <a:endParaRPr lang="de-A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3970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47" r:id="rId2"/>
    <p:sldLayoutId id="2147483708" r:id="rId3"/>
    <p:sldLayoutId id="2147483721" r:id="rId4"/>
    <p:sldLayoutId id="2147483712" r:id="rId5"/>
    <p:sldLayoutId id="2147483713" r:id="rId6"/>
    <p:sldLayoutId id="2147483714" r:id="rId7"/>
    <p:sldLayoutId id="2147483735" r:id="rId8"/>
    <p:sldLayoutId id="214748372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>
          <a:solidFill>
            <a:srgbClr val="4C4D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48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990797C-ACE3-4439-0E33-42947308A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Wiederholung VO-Inhalte Komplexe Zahlen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9A8A9105-88C9-2BCB-4798-DA0A554DC4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Definition (imaginäre Einheit)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de-AT" b="0" dirty="0"/>
              </a:p>
              <a:p>
                <a:pPr marL="0" indent="0">
                  <a:buNone/>
                </a:pPr>
                <a:r>
                  <a:rPr lang="de-DE" dirty="0"/>
                  <a:t>Definition (komplexe Zahlen)</a:t>
                </a:r>
              </a:p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≔</m:t>
                    </m:r>
                    <m:r>
                      <m:rPr>
                        <m:lit/>
                      </m:rP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m:rPr>
                        <m:lit/>
                      </m:rP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Real und Imaginärteil</a:t>
                </a:r>
              </a:p>
              <a:p>
                <a:r>
                  <a:rPr lang="de-DE" dirty="0"/>
                  <a:t>Für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𝑏𝑖</m:t>
                    </m:r>
                  </m:oMath>
                </a14:m>
                <a:r>
                  <a:rPr lang="de-DE" dirty="0"/>
                  <a:t> heißt Realteil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dirty="0"/>
                  <a:t>, Imaginärteil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𝐼𝑚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de-DE" dirty="0"/>
              </a:p>
              <a:p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Rechenregeln in komplexen Zahlen</a:t>
                </a:r>
              </a:p>
              <a:p>
                <a:r>
                  <a:rPr lang="de-DE" dirty="0"/>
                  <a:t>Addition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r>
                  <a:rPr lang="de-DE" dirty="0"/>
                  <a:t>Multiplikation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9A8A9105-88C9-2BCB-4798-DA0A554DC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513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A2A97F6-7BF5-1B92-5CB2-95A25B6D1F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Konjugiert Komplexe Zahl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𝑏𝑖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Vorgehensweise bei der Komplexen Division:</a:t>
                </a:r>
              </a:p>
              <a:p>
                <a:r>
                  <a:rPr lang="de-DE" dirty="0"/>
                  <a:t>Erweitern des Bruchs mit komplex konjugierten Nenner</a:t>
                </a:r>
              </a:p>
              <a:p>
                <a:r>
                  <a:rPr lang="de-DE" dirty="0"/>
                  <a:t>Im Nenner bildet sich der Betrag einer komplexen Zahl</a:t>
                </a:r>
              </a:p>
              <a:p>
                <a:r>
                  <a:rPr lang="de-DE" dirty="0"/>
                  <a:t>Im Nenner erhält man somit eine reelle Zahl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DA2A97F6-7BF5-1B92-5CB2-95A25B6D1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7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0C5FFE41-09EB-F7F6-82C9-EBFDA65E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Eigenschaften und wichtige Rechenregeln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5D64B78-5669-6488-6D1E-21BC50B75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788" y="981075"/>
            <a:ext cx="5661212" cy="461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15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6B54257-BD1C-A81B-59C2-8B8C499CFB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995" y="4778375"/>
                <a:ext cx="10400386" cy="131092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Im Grunde kann man sich jede komplexe Zahl als ein Element der komplexen Ebene vorstellen, im Grunde wie ein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 Koordinatensystem</a:t>
                </a:r>
              </a:p>
              <a:p>
                <a:pPr marL="0" indent="0">
                  <a:buNone/>
                </a:pPr>
                <a:r>
                  <a:rPr lang="de-DE" dirty="0"/>
                  <a:t>Für die Berechnung von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de-DE" dirty="0"/>
                  <a:t> gibt es dann mehrere Trigonometrische Möglichkeiten.</a:t>
                </a:r>
              </a:p>
              <a:p>
                <a:pPr marL="0" indent="0">
                  <a:buNone/>
                </a:pPr>
                <a:r>
                  <a:rPr lang="de-DE" dirty="0"/>
                  <a:t>Wir merken uns folgendes --&gt;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AT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unc>
                              <m:funcPr>
                                <m:ctrlPr>
                                  <a:rPr lang="de-A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de-AT" b="0" i="0" smtClean="0">
                                    <a:latin typeface="Cambria Math" panose="02040503050406030204" pitchFamily="18" charset="0"/>
                                  </a:rPr>
                                  <m:t>arccos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de-A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num>
                                      <m:den>
                                        <m: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de-AT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de-A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de-AT" b="0" i="0" smtClean="0">
                                    <a:latin typeface="Cambria Math" panose="02040503050406030204" pitchFamily="18" charset="0"/>
                                  </a:rPr>
                                  <m:t>arccos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de-A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num>
                                      <m:den>
                                        <m:r>
                                          <a:rPr lang="de-AT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de-AT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6B54257-BD1C-A81B-59C2-8B8C499CF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995" y="4778375"/>
                <a:ext cx="10400386" cy="1310926"/>
              </a:xfrm>
              <a:blipFill>
                <a:blip r:embed="rId2"/>
                <a:stretch>
                  <a:fillRect l="-244" t="-110577" b="-1951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B86745FD-B933-7534-5D50-94DB186C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Polarkoordinaten</a:t>
            </a:r>
          </a:p>
        </p:txBody>
      </p:sp>
      <p:pic>
        <p:nvPicPr>
          <p:cNvPr id="1028" name="Picture 4" descr="Complex Plane: Rectangular and Polar Form (examples, solutions, worksheets,  activities)">
            <a:extLst>
              <a:ext uri="{FF2B5EF4-FFF2-40B4-BE49-F238E27FC236}">
                <a16:creationId xmlns:a16="http://schemas.microsoft.com/office/drawing/2014/main" id="{55934493-B364-EAE7-FF10-E26E2E26A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76" y="981075"/>
            <a:ext cx="7442200" cy="37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70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71F12-B34A-5EF5-7AE6-6B6129C5E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20A1CD8-F048-638D-B993-A72986A0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Damit das bei Prüfungen klappt </a:t>
            </a:r>
            <a:r>
              <a:rPr lang="de-DE" dirty="0">
                <a:sym typeface="Wingdings" pitchFamily="2" charset="2"/>
              </a:rPr>
              <a:t>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60E1D6C-C5CF-105B-75A0-DD5E6901D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Brauchen wir noch einige wichtige Werte des </a:t>
            </a:r>
            <a:r>
              <a:rPr lang="de-DE" dirty="0" err="1"/>
              <a:t>arccos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2052" name="Picture 4" descr="How to use the table of arcsine and arccosine. Example 2 | MATHVOX">
            <a:extLst>
              <a:ext uri="{FF2B5EF4-FFF2-40B4-BE49-F238E27FC236}">
                <a16:creationId xmlns:a16="http://schemas.microsoft.com/office/drawing/2014/main" id="{96928FED-17AD-DD1D-B95A-5B4DABA7C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1571450"/>
            <a:ext cx="8242300" cy="248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086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A86400A5-8250-7BAA-5A8D-D2760579D0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Für jede reelle Zahl x gilt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𝑐𝑜𝑠𝑥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𝑖𝑠𝑖𝑛𝑥</m:t>
                    </m:r>
                  </m:oMath>
                </a14:m>
                <a:r>
                  <a:rPr lang="de-DE" dirty="0"/>
                  <a:t> </a:t>
                </a:r>
              </a:p>
              <a:p>
                <a:pPr marL="0" indent="0">
                  <a:buNone/>
                </a:pPr>
                <a:r>
                  <a:rPr lang="de-DE" dirty="0"/>
                  <a:t>Richard Feynman – „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most</a:t>
                </a:r>
                <a:r>
                  <a:rPr lang="de-DE" dirty="0"/>
                  <a:t> </a:t>
                </a:r>
                <a:r>
                  <a:rPr lang="de-DE" dirty="0" err="1"/>
                  <a:t>remarkable</a:t>
                </a:r>
                <a:r>
                  <a:rPr lang="de-DE" dirty="0"/>
                  <a:t> </a:t>
                </a:r>
                <a:r>
                  <a:rPr lang="de-DE" dirty="0" err="1"/>
                  <a:t>formula</a:t>
                </a:r>
                <a:r>
                  <a:rPr lang="de-DE" dirty="0"/>
                  <a:t> in </a:t>
                </a:r>
                <a:r>
                  <a:rPr lang="de-DE" dirty="0" err="1"/>
                  <a:t>mathematics</a:t>
                </a:r>
                <a:r>
                  <a:rPr lang="de-DE" dirty="0"/>
                  <a:t>“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Die Eulersche Formel macht es uns möglich eine</a:t>
                </a:r>
              </a:p>
              <a:p>
                <a:pPr marL="0" indent="0">
                  <a:buNone/>
                </a:pPr>
                <a:r>
                  <a:rPr lang="de-DE" dirty="0"/>
                  <a:t>komplexe Zahl von kartesischen in das polar- Koordinatensystem</a:t>
                </a:r>
              </a:p>
              <a:p>
                <a:pPr marL="0" indent="0">
                  <a:buNone/>
                </a:pPr>
                <a:r>
                  <a:rPr lang="de-DE" dirty="0"/>
                  <a:t>zu transformieren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Wir brauchen eigentlich nur einsetzen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𝑖𝑦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𝑖𝑠𝑖𝑛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p>
                    </m:sSup>
                  </m:oMath>
                </a14:m>
                <a:r>
                  <a:rPr lang="de-DE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𝑖𝑦</m:t>
                    </m:r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A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d>
                      <m:dPr>
                        <m:ctrlPr>
                          <a:rPr lang="de-A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de-AT" b="0" i="1" dirty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dirty="0" smtClean="0"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de-A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sup>
                    </m:sSup>
                  </m:oMath>
                </a14:m>
                <a:r>
                  <a:rPr lang="de-DE" dirty="0"/>
                  <a:t> 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A86400A5-8250-7BAA-5A8D-D2760579D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7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338EBA53-7D43-3161-112A-D1EA1EE4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Eulers Formula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0917CDC-FB35-198C-B8CD-80080D280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077" y="2449775"/>
            <a:ext cx="2794000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136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E6B4EF7F-5C26-393D-C6EB-985DD97E3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408" y="1124299"/>
            <a:ext cx="4889500" cy="3403600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7D0EC6DE-9472-A879-0C41-5A1E3A1F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Dann kann man auch „anders“ Rechnen</a:t>
            </a:r>
          </a:p>
        </p:txBody>
      </p:sp>
    </p:spTree>
    <p:extLst>
      <p:ext uri="{BB962C8B-B14F-4D97-AF65-F5344CB8AC3E}">
        <p14:creationId xmlns:p14="http://schemas.microsoft.com/office/powerpoint/2010/main" val="2204048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00D2D49-9E19-9984-F79C-E2CEFB26C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Wiederum man kann die Formel aus der Vorlesung anwenden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Zb</a:t>
            </a:r>
            <a:r>
              <a:rPr lang="de-DE" dirty="0"/>
              <a:t> für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BF61025-7E6E-0CFD-F270-3EF8106F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Bevor wir mit den Übungen starten – Roots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Numbers</a:t>
            </a:r>
          </a:p>
        </p:txBody>
      </p:sp>
    </p:spTree>
    <p:extLst>
      <p:ext uri="{BB962C8B-B14F-4D97-AF65-F5344CB8AC3E}">
        <p14:creationId xmlns:p14="http://schemas.microsoft.com/office/powerpoint/2010/main" val="99310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ib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��
</file>

<file path=customXml/itemProps1.xml><?xml version="1.0" encoding="utf-8"?>
<ds:datastoreItem xmlns:ds="http://schemas.openxmlformats.org/officeDocument/2006/customXml" ds:itemID="{61E5F9E1-5A31-44B6-82D3-CDBA1960149B}">
  <ds:schemaRefs>
    <ds:schemaRef ds:uri="http://www.w3.org/2001/XMLSchema"/>
    <ds:schemaRef ds:uri="http://www.zhaw.ch/AccessibilityAdd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291</Words>
  <Application>Microsoft Macintosh PowerPoint</Application>
  <PresentationFormat>Breitbild</PresentationFormat>
  <Paragraphs>43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Wingdings</vt:lpstr>
      <vt:lpstr>Office</vt:lpstr>
      <vt:lpstr>Wiederholung VO-Inhalte Komplexe Zahlen</vt:lpstr>
      <vt:lpstr>Eigenschaften und wichtige Rechenregeln</vt:lpstr>
      <vt:lpstr>Darstellung Polarkoordinaten</vt:lpstr>
      <vt:lpstr>Damit das bei Prüfungen klappt </vt:lpstr>
      <vt:lpstr>Eulers Formula</vt:lpstr>
      <vt:lpstr>Dann kann man auch „anders“ Rechnen</vt:lpstr>
      <vt:lpstr>Bevor wir mit den Übungen starten – Roots of Complex Numbers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Office-Anwender</dc:creator>
  <cp:lastModifiedBy>Lukas Marian Meinschad</cp:lastModifiedBy>
  <cp:revision>137</cp:revision>
  <dcterms:created xsi:type="dcterms:W3CDTF">2017-06-06T07:41:45Z</dcterms:created>
  <dcterms:modified xsi:type="dcterms:W3CDTF">2024-11-18T06:34:55Z</dcterms:modified>
</cp:coreProperties>
</file>