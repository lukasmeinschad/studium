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2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62" r:id="rId6"/>
    <p:sldId id="260" r:id="rId7"/>
    <p:sldId id="259" r:id="rId8"/>
    <p:sldId id="261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D4C"/>
    <a:srgbClr val="EB8B2D"/>
    <a:srgbClr val="343433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5" autoAdjust="0"/>
    <p:restoredTop sz="94721"/>
  </p:normalViewPr>
  <p:slideViewPr>
    <p:cSldViewPr snapToGrid="0" snapToObjects="1" showGuides="1">
      <p:cViewPr varScale="1">
        <p:scale>
          <a:sx n="104" d="100"/>
          <a:sy n="104" d="100"/>
        </p:scale>
        <p:origin x="8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70" d="100"/>
          <a:sy n="170" d="100"/>
        </p:scale>
        <p:origin x="6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25.11.24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25.11.24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864711B-B66A-4977-94BF-C8F79667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ADEC43C-9F10-44C2-948C-1CE9C0008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62F2930-2022-4645-AD40-1CBBC51C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DDB4200-B07A-411A-9FE4-AD38EF84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0E2EE-6D34-4B5B-AA4B-573B592F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CA28F89-96FF-4583-812E-E0A19D070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FFC789B-2A81-4438-874D-C120BD958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5BED4D0-8BC2-43F5-A2D4-B6152750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7351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30400"/>
            <a:ext cx="5273191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en-US" dirty="0"/>
            </a:lvl5pPr>
          </a:lstStyle>
          <a:p>
            <a:pPr marL="228594" lvl="0" indent="-228594">
              <a:buFont typeface="Wingdings" pitchFamily="2" charset="2"/>
              <a:buChar char="§"/>
            </a:pPr>
            <a:r>
              <a:rPr lang="de-DE" dirty="0"/>
              <a:t>Mastertextformat bearbeiten</a:t>
            </a:r>
          </a:p>
          <a:p>
            <a:pPr marL="685783" lvl="1" indent="-228594">
              <a:buFont typeface="Wingdings" pitchFamily="2" charset="2"/>
              <a:buChar char="§"/>
            </a:pPr>
            <a:r>
              <a:rPr lang="de-DE" dirty="0"/>
              <a:t>Zweite Ebene</a:t>
            </a:r>
          </a:p>
          <a:p>
            <a:pPr marL="1142971" lvl="2" indent="-228594">
              <a:buFont typeface="Wingdings" pitchFamily="2" charset="2"/>
              <a:buChar char="§"/>
            </a:pPr>
            <a:r>
              <a:rPr lang="de-DE" dirty="0"/>
              <a:t>Dritte Ebene</a:t>
            </a:r>
          </a:p>
          <a:p>
            <a:pPr marL="1600160" lvl="3" indent="-228594">
              <a:buFont typeface="Wingdings" pitchFamily="2" charset="2"/>
              <a:buChar char="§"/>
            </a:pPr>
            <a:r>
              <a:rPr lang="de-DE" dirty="0"/>
              <a:t>Vierte Ebene</a:t>
            </a:r>
          </a:p>
          <a:p>
            <a:pPr marL="2057349" lvl="4" indent="-228594">
              <a:buFont typeface="Wingdings" pitchFamily="2" charset="2"/>
              <a:buChar char="§"/>
            </a:pPr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9368" y="1130400"/>
            <a:ext cx="5274000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D2A0F63-3047-48A0-8844-706F94AA5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1F5EA41-68C8-4101-A777-DA8D66CDA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A835BB1-C341-484D-9478-FD7AC6FE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3CABCA6-8A44-4510-88DF-105258291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69" y="1797050"/>
            <a:ext cx="5274000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4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770969" y="1126927"/>
            <a:ext cx="5273999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9368" y="1797050"/>
            <a:ext cx="5274000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4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359368" y="1127050"/>
            <a:ext cx="5274000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139E03F-37B4-4FFD-BF3A-B610654DE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164399-33DF-4CA4-BB06-BBFA3298F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524F7D8-13D0-4D7C-BB66-DD02880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0BA7D5B-6828-4902-BCFD-FDFC10141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9368" y="1130400"/>
            <a:ext cx="5274000" cy="4756918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799" y="1130400"/>
            <a:ext cx="5274000" cy="475691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FA8C76D-FB78-46AD-9126-06C0DD97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C3B2896-5CE0-4AE2-BF67-5854CC0A1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164C183-DEFE-4514-A946-E88C7F47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93F9A72-D976-44B9-928D-DE07A3A5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9368" y="1130400"/>
            <a:ext cx="5274000" cy="475138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2" y="1130400"/>
            <a:ext cx="5274000" cy="47513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4E2278B-2CE9-430A-902D-4C5232CC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AC6CA4D-A3B1-475B-ABEA-939A8969F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4C3248B-5FBB-4845-9AAC-068CB56D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00DB79-799A-4AB8-8AF9-3C91DADD7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E3D3830-AFB1-4618-B279-6F686B2B65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700213"/>
            <a:ext cx="10866437" cy="1145537"/>
          </a:xfrm>
        </p:spPr>
        <p:txBody>
          <a:bodyPr>
            <a:noAutofit/>
          </a:bodyPr>
          <a:lstStyle>
            <a:lvl1pPr marL="623888" indent="-358775">
              <a:buNone/>
              <a:defRPr sz="2000" i="1"/>
            </a:lvl1pPr>
            <a:lvl2pPr marL="457200" indent="0">
              <a:buNone/>
              <a:defRPr sz="2000" i="1"/>
            </a:lvl2pPr>
            <a:lvl3pPr marL="914400" indent="0">
              <a:buNone/>
              <a:defRPr sz="2000" i="1"/>
            </a:lvl3pPr>
            <a:lvl4pPr marL="1371600" indent="0">
              <a:buNone/>
              <a:defRPr sz="2000" i="1"/>
            </a:lvl4pPr>
            <a:lvl5pPr marL="1828800" indent="0">
              <a:buNone/>
              <a:defRPr sz="2000" i="1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30400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5D40C19-5571-4E6B-92FB-0DB032155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6A666AF-0FF4-4744-939E-6225A79AC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3F18671-40F8-476D-AA96-093766E4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AAADEFE-31C8-48CD-9129-6646A9162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C19150B-8033-4BB0-A118-14B6BAB79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2949575"/>
            <a:ext cx="10848975" cy="29273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9CEA406-B33A-474E-AD25-1543EBC50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A45CBD-1CCA-4B41-9006-CD2C63922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B5B30B-5CF3-41A4-91A9-CC3AAAC64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408" y="1130142"/>
            <a:ext cx="10865960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lvl="0" indent="-228594">
              <a:buFont typeface="Wingdings" pitchFamily="2" charset="2"/>
              <a:buChar char="§"/>
            </a:pPr>
            <a:r>
              <a:rPr lang="de-DE" dirty="0"/>
              <a:t>Mastertextformat bearbeiten</a:t>
            </a:r>
          </a:p>
          <a:p>
            <a:pPr marL="685783" lvl="1" indent="-228594">
              <a:buFont typeface="Wingdings" pitchFamily="2" charset="2"/>
              <a:buChar char="§"/>
            </a:pPr>
            <a:r>
              <a:rPr lang="de-DE" dirty="0"/>
              <a:t>Zweite Ebene</a:t>
            </a:r>
          </a:p>
          <a:p>
            <a:pPr marL="1142971" lvl="2" indent="-228594">
              <a:buFont typeface="Wingdings" pitchFamily="2" charset="2"/>
              <a:buChar char="§"/>
            </a:pPr>
            <a:r>
              <a:rPr lang="de-DE" dirty="0"/>
              <a:t>Dritte Ebene</a:t>
            </a:r>
          </a:p>
          <a:p>
            <a:pPr marL="1600160" lvl="3" indent="-228594">
              <a:buFont typeface="Wingdings" pitchFamily="2" charset="2"/>
              <a:buChar char="§"/>
            </a:pPr>
            <a:r>
              <a:rPr lang="de-DE" dirty="0"/>
              <a:t>Vierte Ebene</a:t>
            </a:r>
          </a:p>
          <a:p>
            <a:pPr marL="2057349" lvl="4" indent="-228594">
              <a:buFont typeface="Wingdings" pitchFamily="2" charset="2"/>
              <a:buChar char="§"/>
            </a:pPr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47" r:id="rId2"/>
    <p:sldLayoutId id="2147483708" r:id="rId3"/>
    <p:sldLayoutId id="2147483721" r:id="rId4"/>
    <p:sldLayoutId id="2147483712" r:id="rId5"/>
    <p:sldLayoutId id="2147483713" r:id="rId6"/>
    <p:sldLayoutId id="2147483714" r:id="rId7"/>
    <p:sldLayoutId id="2147483735" r:id="rId8"/>
    <p:sldLayoutId id="214748372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>
          <a:solidFill>
            <a:srgbClr val="4C4D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509F6A7-2ACA-9BDE-CC92-24E959ED3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Sei K ein Körper. Ein lineares Gleichungssystem ist ein Objekt der folgenden Form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A36BDE2-F218-6177-8296-2A82BA6C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Wiederholung Lineare </a:t>
            </a:r>
            <a:r>
              <a:rPr lang="de-DE" dirty="0" err="1"/>
              <a:t>Gleichungsysteme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15F158-B333-37C5-1200-8499B2B9F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965" y="1588148"/>
            <a:ext cx="3656311" cy="22300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CD08D45-4031-F638-446D-37BC3468E4C4}"/>
                  </a:ext>
                </a:extLst>
              </p:cNvPr>
              <p:cNvSpPr txBox="1"/>
              <p:nvPr/>
            </p:nvSpPr>
            <p:spPr>
              <a:xfrm>
                <a:off x="5511114" y="1692876"/>
                <a:ext cx="5076646" cy="94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AT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AT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AT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AT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e-DE" dirty="0"/>
              </a:p>
              <a:p>
                <a:endParaRPr lang="de-DE" dirty="0"/>
              </a:p>
              <a:p>
                <a:r>
                  <a:rPr lang="de-DE" dirty="0"/>
                  <a:t>Sind jeweils die Koeffizienten des Gleichungssystem </a:t>
                </a:r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CD08D45-4031-F638-446D-37BC3468E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114" y="1692876"/>
                <a:ext cx="5076646" cy="945643"/>
              </a:xfrm>
              <a:prstGeom prst="rect">
                <a:avLst/>
              </a:prstGeom>
              <a:blipFill>
                <a:blip r:embed="rId3"/>
                <a:stretch>
                  <a:fillRect l="-748" t="-2667" b="-10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3699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A5D320C-9282-772C-233D-338B5923D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2A30AC3-8305-FE6B-5D27-618E4182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Homogenes </a:t>
            </a:r>
            <a:r>
              <a:rPr lang="de-DE" dirty="0" err="1"/>
              <a:t>Gleichungsystem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6517863-6624-BDB1-EA5E-B31E89FF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981075"/>
            <a:ext cx="7532856" cy="500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5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CB04BDC-32B8-F902-7F78-A81C5C62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Koeffizientenmatrix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01A7C1-F249-6513-B976-678692BE7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555" y="1038225"/>
            <a:ext cx="6642269" cy="4069374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2DD4F32-0AA1-9CD5-307F-14504A61B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7176" y="1557336"/>
            <a:ext cx="4122776" cy="2514601"/>
          </a:xfrm>
          <a:prstGeom prst="rect">
            <a:avLst/>
          </a:prstGeom>
        </p:spPr>
      </p:pic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1935E329-8373-ECFD-2D61-930C85D8A5B9}"/>
              </a:ext>
            </a:extLst>
          </p:cNvPr>
          <p:cNvSpPr/>
          <p:nvPr/>
        </p:nvSpPr>
        <p:spPr>
          <a:xfrm>
            <a:off x="4379952" y="2814636"/>
            <a:ext cx="806411" cy="471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54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974584-4A76-475C-B234-5E5936D9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Zeilenstufenform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D4C51C-2AAB-1AEE-E3AA-01A9AEC63E9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02E947-5642-CEA9-9727-FC3927C21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52C6DA-BACF-FFCB-86B9-44FA0E2B0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4</a:t>
            </a:fld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14E2E3C-9AD0-6762-E4EC-81033E14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79" y="1102158"/>
            <a:ext cx="5151575" cy="248126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5C18A34-E79E-3D50-5E18-03B8D2531604}"/>
              </a:ext>
            </a:extLst>
          </p:cNvPr>
          <p:cNvSpPr txBox="1"/>
          <p:nvPr/>
        </p:nvSpPr>
        <p:spPr>
          <a:xfrm>
            <a:off x="5786438" y="1275097"/>
            <a:ext cx="62581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Gedanklich entspricht das dem Umformen unseres </a:t>
            </a:r>
          </a:p>
          <a:p>
            <a:r>
              <a:rPr lang="de-DE" dirty="0" err="1"/>
              <a:t>Gleichungsystems</a:t>
            </a:r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System hat keine Lösung wenn b=0,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Für Zeilen wo kein Pivot steht erhält man freie Variablen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Alle anderen sind gebundene Variablen haben also fixen Wert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252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26B3-A6E9-BEC5-26AA-E2F22FA96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40036-07F7-F56C-3C67-437E338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6EAAF8-3919-B228-BBE5-1C53BC7BCCC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492B23-78E5-7234-B563-1A29AE045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84FCB4-A78B-6643-6466-E265406DC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5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B49F3B0-F2D6-A053-3FAF-4323BE3B2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19" y="1039559"/>
            <a:ext cx="6992635" cy="6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6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777CF5-7C8F-4FC8-0BD9-8A354DBF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84672B-BEBA-1606-5C8A-6E7F7DB4E2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CADCA3-D2A8-D8DD-054D-D39F4D49D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C57B1B-8BA5-746F-8AA7-5B5E2BE54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6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B880AFB-ABCF-8FDD-8780-AEE7F99A2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19" y="1039559"/>
            <a:ext cx="6992635" cy="614737"/>
          </a:xfrm>
          <a:prstGeom prst="rect">
            <a:avLst/>
          </a:prstGeo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1A59AAC-04FE-44F6-CD85-CA5CCB4B72D6}"/>
              </a:ext>
            </a:extLst>
          </p:cNvPr>
          <p:cNvCxnSpPr/>
          <p:nvPr/>
        </p:nvCxnSpPr>
        <p:spPr>
          <a:xfrm flipH="1">
            <a:off x="1729946" y="1519881"/>
            <a:ext cx="753762" cy="174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365FE35-BB88-7ECD-3665-17F60E4EEFC3}"/>
              </a:ext>
            </a:extLst>
          </p:cNvPr>
          <p:cNvSpPr txBox="1"/>
          <p:nvPr/>
        </p:nvSpPr>
        <p:spPr>
          <a:xfrm>
            <a:off x="1382671" y="3280719"/>
            <a:ext cx="69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Tupel</a:t>
            </a:r>
          </a:p>
        </p:txBody>
      </p:sp>
    </p:spTree>
    <p:extLst>
      <p:ext uri="{BB962C8B-B14F-4D97-AF65-F5344CB8AC3E}">
        <p14:creationId xmlns:p14="http://schemas.microsoft.com/office/powerpoint/2010/main" val="10343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179F-E86B-5361-87BE-FE75F979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4C248-5BFD-1622-2417-B157F9D6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1041A1-9110-BC55-9AE9-229F1D03E7E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0EC010-49F2-106D-AE2F-0725B212C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017CE4-271E-D5AA-C60E-F1503154C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7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615A675-9F20-B784-2FFC-39DF81DA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19" y="1039559"/>
            <a:ext cx="6992635" cy="614737"/>
          </a:xfrm>
          <a:prstGeom prst="rect">
            <a:avLst/>
          </a:prstGeo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18E3548-6CFC-4AA7-CBBE-A873E255A6F2}"/>
              </a:ext>
            </a:extLst>
          </p:cNvPr>
          <p:cNvCxnSpPr/>
          <p:nvPr/>
        </p:nvCxnSpPr>
        <p:spPr>
          <a:xfrm flipH="1">
            <a:off x="1729946" y="1519881"/>
            <a:ext cx="753762" cy="174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6E0963E-CF88-107C-34E3-5EEBFC5EF55D}"/>
              </a:ext>
            </a:extLst>
          </p:cNvPr>
          <p:cNvSpPr txBox="1"/>
          <p:nvPr/>
        </p:nvSpPr>
        <p:spPr>
          <a:xfrm>
            <a:off x="1382671" y="3280719"/>
            <a:ext cx="69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Tupel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57A2852-75AE-36B4-32B3-B40CFECE2EED}"/>
              </a:ext>
            </a:extLst>
          </p:cNvPr>
          <p:cNvCxnSpPr>
            <a:cxnSpLocks/>
          </p:cNvCxnSpPr>
          <p:nvPr/>
        </p:nvCxnSpPr>
        <p:spPr>
          <a:xfrm flipH="1">
            <a:off x="4213654" y="1519881"/>
            <a:ext cx="567121" cy="1909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0E22532D-2BEE-8934-75E4-45AA35CF7D0B}"/>
              </a:ext>
            </a:extLst>
          </p:cNvPr>
          <p:cNvSpPr txBox="1"/>
          <p:nvPr/>
        </p:nvSpPr>
        <p:spPr>
          <a:xfrm>
            <a:off x="3311611" y="3421451"/>
            <a:ext cx="364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... welche das </a:t>
            </a:r>
            <a:r>
              <a:rPr lang="de-DE" dirty="0" err="1"/>
              <a:t>Gleichungsystem</a:t>
            </a:r>
            <a:r>
              <a:rPr lang="de-DE" dirty="0"/>
              <a:t> lösen</a:t>
            </a:r>
          </a:p>
        </p:txBody>
      </p:sp>
    </p:spTree>
    <p:extLst>
      <p:ext uri="{BB962C8B-B14F-4D97-AF65-F5344CB8AC3E}">
        <p14:creationId xmlns:p14="http://schemas.microsoft.com/office/powerpoint/2010/main" val="200445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A173C-EB70-FB54-C1A3-8B21A9F9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ablesen der Lösung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94CB5F-7AE2-880C-EDE6-7E722E4BCBC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173926-A642-8CC7-8AD3-42408996B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CA790D-AED6-0CB5-CE1A-A0B1AC29E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8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51D40A7-C19D-1561-305A-4305F38B2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7"/>
          <a:stretch/>
        </p:blipFill>
        <p:spPr>
          <a:xfrm>
            <a:off x="436561" y="985838"/>
            <a:ext cx="7003943" cy="501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0EFB0-2F5B-E5A7-6654-08938B5D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Wiederholung Satz von </a:t>
            </a:r>
            <a:r>
              <a:rPr lang="de-DE" dirty="0" err="1"/>
              <a:t>Gauss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9B8ED7-A119-2F1B-0633-832522A0AA6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3F614AA-2248-E8FE-3903-B79134DC4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3C5A7D-6D2F-6FC0-F905-28D143645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9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24CBB40-4014-A892-49E4-4DF3C5C46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17" y="1339935"/>
            <a:ext cx="7522417" cy="378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CC0C4-8C13-B557-46BD-BDC15ADD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ist das Schema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161BFE-69E9-EDF8-8284-EAA9A7FF11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EEA7DE-BA8C-CCF5-CBB9-E3078E70A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3954EF-8DFF-448B-CB84-3FF7E2676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10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CA8D0F-BE51-B3F2-FF9A-0A5705269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81" y="810494"/>
            <a:ext cx="10698738" cy="285081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9557F04-4094-FC75-C9EE-D0D22FF21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36" y="967657"/>
            <a:ext cx="5902173" cy="357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3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A0AEA2-929B-9A5F-D44C-1ABD344B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Beispiel der Umformungen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4841538-0FE6-16AC-0428-2DA8D68803B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D49564-AEB4-00F6-DAA3-516B22056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F07F47-AB5E-0BB2-CA51-228A504F4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11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EB3402-5183-6763-3D06-7F4F341E7D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21"/>
          <a:stretch/>
        </p:blipFill>
        <p:spPr>
          <a:xfrm>
            <a:off x="2626231" y="1281199"/>
            <a:ext cx="6939537" cy="347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7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61E5F9E1-5A31-44B6-82D3-CDBA1960149B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147</Words>
  <Application>Microsoft Macintosh PowerPoint</Application>
  <PresentationFormat>Breitbild</PresentationFormat>
  <Paragraphs>48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</vt:lpstr>
      <vt:lpstr>Wiederholung Lineare Gleichungsysteme</vt:lpstr>
      <vt:lpstr>Homogenes Gleichungsystem</vt:lpstr>
      <vt:lpstr>Koeffizientenmatrix</vt:lpstr>
      <vt:lpstr>Zeilenstufenform</vt:lpstr>
      <vt:lpstr>Lösung</vt:lpstr>
      <vt:lpstr>Lösung</vt:lpstr>
      <vt:lpstr>Lösung</vt:lpstr>
      <vt:lpstr>Beispiel ablesen der Lösung</vt:lpstr>
      <vt:lpstr>Wiederholung Satz von Gauss</vt:lpstr>
      <vt:lpstr>Wie ist das Schema</vt:lpstr>
      <vt:lpstr>Ein Beispiel der Umformungen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Lukas Marian Meinschad</cp:lastModifiedBy>
  <cp:revision>142</cp:revision>
  <dcterms:created xsi:type="dcterms:W3CDTF">2017-06-06T07:41:45Z</dcterms:created>
  <dcterms:modified xsi:type="dcterms:W3CDTF">2024-11-25T20:49:29Z</dcterms:modified>
</cp:coreProperties>
</file>