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8" r:id="rId2"/>
  </p:sldMasterIdLst>
  <p:notesMasterIdLst>
    <p:notesMasterId r:id="rId13"/>
  </p:notesMasterIdLst>
  <p:handoutMasterIdLst>
    <p:handoutMasterId r:id="rId14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4D4C"/>
    <a:srgbClr val="EB8B2D"/>
    <a:srgbClr val="343433"/>
    <a:srgbClr val="636462"/>
    <a:srgbClr val="777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9" autoAdjust="0"/>
    <p:restoredTop sz="94721"/>
  </p:normalViewPr>
  <p:slideViewPr>
    <p:cSldViewPr snapToGrid="0" snapToObjects="1" showGuides="1">
      <p:cViewPr varScale="1">
        <p:scale>
          <a:sx n="104" d="100"/>
          <a:sy n="104" d="100"/>
        </p:scale>
        <p:origin x="76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70" d="100"/>
          <a:sy n="170" d="100"/>
        </p:scale>
        <p:origin x="6480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AF9A7093-B570-B193-D7A9-C5C63DBA201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ABD1486-6470-ADF8-DE88-7EFF4FFC6F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5FBCA-7827-204B-8916-3BD441F72BB8}" type="datetimeFigureOut">
              <a:rPr lang="de-DE" smtClean="0"/>
              <a:t>07.01.25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AD9848-4544-6C88-D485-3E2FFA25B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54C57B-ECE4-849C-BD69-0C6CD30F619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B2C0D7-0313-8748-AFD1-FE9CFDB25CA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6588773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2CE5A1-857B-214D-8BEE-AF65CEFCD544}" type="datetimeFigureOut">
              <a:rPr lang="de-DE" smtClean="0"/>
              <a:t>07.01.25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531BCB-E4CC-CD41-BF0E-941D9510A3D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5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7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3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62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18" algn="l" defTabSz="914354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44FC01E-4815-58CB-245F-C6264A32E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408" y="1130142"/>
            <a:ext cx="10858029" cy="4746783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864711B-B66A-4977-94BF-C8F79667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ADEC43C-9F10-44C2-948C-1CE9C0008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062F2930-2022-4645-AD40-1CBBC51C5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DDB4200-B07A-411A-9FE4-AD38EF843F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6542403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 userDrawn="1">
          <p15:clr>
            <a:srgbClr val="FBAE40"/>
          </p15:clr>
        </p15:guide>
        <p15:guide id="2" pos="48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E0E2EE-6D34-4B5B-AA4B-573B592F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CA28F89-96FF-4583-812E-E0A19D070C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FFC789B-2A81-4438-874D-C120BD958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5BED4D0-8BC2-43F5-A2D4-B6152750D3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7351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6763" y="1130400"/>
            <a:ext cx="5273191" cy="475138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en-US" dirty="0"/>
            </a:lvl5pPr>
          </a:lstStyle>
          <a:p>
            <a:pPr marL="228594" lvl="0" indent="-228594">
              <a:buFont typeface="Wingdings" pitchFamily="2" charset="2"/>
              <a:buChar char="§"/>
            </a:pPr>
            <a:r>
              <a:rPr lang="de-DE" dirty="0"/>
              <a:t>Mastertextformat bearbeiten</a:t>
            </a:r>
          </a:p>
          <a:p>
            <a:pPr marL="685783" lvl="1" indent="-228594">
              <a:buFont typeface="Wingdings" pitchFamily="2" charset="2"/>
              <a:buChar char="§"/>
            </a:pPr>
            <a:r>
              <a:rPr lang="de-DE" dirty="0"/>
              <a:t>Zweite Ebene</a:t>
            </a:r>
          </a:p>
          <a:p>
            <a:pPr marL="1142971" lvl="2" indent="-228594">
              <a:buFont typeface="Wingdings" pitchFamily="2" charset="2"/>
              <a:buChar char="§"/>
            </a:pPr>
            <a:r>
              <a:rPr lang="de-DE" dirty="0"/>
              <a:t>Dritte Ebene</a:t>
            </a:r>
          </a:p>
          <a:p>
            <a:pPr marL="1600160" lvl="3" indent="-228594">
              <a:buFont typeface="Wingdings" pitchFamily="2" charset="2"/>
              <a:buChar char="§"/>
            </a:pPr>
            <a:r>
              <a:rPr lang="de-DE" dirty="0"/>
              <a:t>Vierte Ebene</a:t>
            </a:r>
          </a:p>
          <a:p>
            <a:pPr marL="2057349" lvl="4" indent="-228594">
              <a:buFont typeface="Wingdings" pitchFamily="2" charset="2"/>
              <a:buChar char="§"/>
            </a:pPr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F25E90-E439-A938-CC55-2C9384E72BB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9368" y="1130400"/>
            <a:ext cx="5274000" cy="4751387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4D2A0F63-3047-48A0-8844-706F94AA5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01F5EA41-68C8-4101-A777-DA8D66CDA3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BA835BB1-C341-484D-9478-FD7AC6FE9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3CABCA6-8A44-4510-88DF-1052582916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468730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0969" y="1797050"/>
            <a:ext cx="5274000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24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23EBBEB-ABBC-395C-14A7-2F7F0FAE60BA}"/>
              </a:ext>
            </a:extLst>
          </p:cNvPr>
          <p:cNvSpPr txBox="1"/>
          <p:nvPr userDrawn="1"/>
        </p:nvSpPr>
        <p:spPr>
          <a:xfrm>
            <a:off x="770969" y="1126927"/>
            <a:ext cx="5273999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68689F5-31B5-F924-6649-EBD229A11FB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9368" y="1797050"/>
            <a:ext cx="5274000" cy="4079875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2400">
                <a:solidFill>
                  <a:srgbClr val="4C4D4C"/>
                </a:solidFill>
              </a:defRPr>
            </a:lvl2pPr>
            <a:lvl3pPr>
              <a:defRPr sz="2000">
                <a:solidFill>
                  <a:schemeClr val="accent6"/>
                </a:solidFill>
              </a:defRPr>
            </a:lvl3pPr>
            <a:lvl4pPr>
              <a:defRPr sz="2000">
                <a:solidFill>
                  <a:schemeClr val="accent6"/>
                </a:solidFill>
              </a:defRPr>
            </a:lvl4pPr>
            <a:lvl5pPr>
              <a:defRPr sz="2000">
                <a:solidFill>
                  <a:schemeClr val="accent6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endParaRPr lang="en-US" dirty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8FCADC7D-CFAE-D0EC-0BBB-45D49E9E25BF}"/>
              </a:ext>
            </a:extLst>
          </p:cNvPr>
          <p:cNvSpPr txBox="1"/>
          <p:nvPr userDrawn="1"/>
        </p:nvSpPr>
        <p:spPr>
          <a:xfrm>
            <a:off x="6359368" y="1127050"/>
            <a:ext cx="5274000" cy="400110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Untertitelformat bearbeiten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4139E03F-37B4-4FFD-BF3A-B610654DE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34164399-33DF-4CA4-BB06-BBFA3298F4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E524F7D8-13D0-4D7C-BB66-DD0288049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70BA7D5B-6828-4902-BCFD-FDFC10141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91244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9368" y="1130400"/>
            <a:ext cx="5274000" cy="4756918"/>
          </a:xfrm>
        </p:spPr>
        <p:txBody>
          <a:bodyPr>
            <a:normAutofit/>
          </a:bodyPr>
          <a:lstStyle>
            <a:lvl1pPr marL="228594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1pPr>
            <a:lvl2pPr marL="685783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2pPr>
            <a:lvl3pPr marL="1142971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3pPr>
            <a:lvl4pPr marL="1600160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4pPr>
            <a:lvl5pPr marL="2057349" indent="-228594">
              <a:buFont typeface="Wingdings" pitchFamily="2" charset="2"/>
              <a:buChar char="§"/>
              <a:defRPr sz="1800">
                <a:solidFill>
                  <a:srgbClr val="4C4D4C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6799" y="1130400"/>
            <a:ext cx="5274000" cy="475691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FA8C76D-FB78-46AD-9126-06C0DD977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C3B2896-5CE0-4AE2-BF67-5854CC0A1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164C183-DEFE-4514-A946-E88C7F477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93F9A72-D976-44B9-928D-DE07A3A5D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15761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359368" y="1130400"/>
            <a:ext cx="5274000" cy="4751386"/>
          </a:xfrm>
        </p:spPr>
        <p:txBody>
          <a:bodyPr anchor="t">
            <a:normAutofit/>
          </a:bodyPr>
          <a:lstStyle>
            <a:lvl1pPr marL="0" indent="0">
              <a:buNone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de-DE" dirty="0"/>
              <a:t>Bild durch Klicken auf Symbol hinzufügen</a:t>
            </a:r>
            <a:endParaRPr lang="en-US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E6C6A265-800A-43D6-2F98-C10611F547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6762" y="1130400"/>
            <a:ext cx="5274000" cy="475138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C4D4C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A4E2278B-2CE9-430A-902D-4C5232CCD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1AC6CA4D-A3B1-475B-ABEA-939A8969F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4C3248B-5FBB-4845-9AAC-068CB56D4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600DB79-799A-4AB8-8AF9-3C91DADD7D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19915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folie +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E3D3830-AFB1-4618-B279-6F686B2B654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6763" y="1700213"/>
            <a:ext cx="10866437" cy="1145537"/>
          </a:xfrm>
        </p:spPr>
        <p:txBody>
          <a:bodyPr>
            <a:noAutofit/>
          </a:bodyPr>
          <a:lstStyle>
            <a:lvl1pPr marL="623888" indent="-358775">
              <a:buNone/>
              <a:defRPr sz="2000" i="1"/>
            </a:lvl1pPr>
            <a:lvl2pPr marL="457200" indent="0">
              <a:buNone/>
              <a:defRPr sz="2000" i="1"/>
            </a:lvl2pPr>
            <a:lvl3pPr marL="914400" indent="0">
              <a:buNone/>
              <a:defRPr sz="2000" i="1"/>
            </a:lvl3pPr>
            <a:lvl4pPr marL="1371600" indent="0">
              <a:buNone/>
              <a:defRPr sz="2000" i="1"/>
            </a:lvl4pPr>
            <a:lvl5pPr marL="1828800" indent="0">
              <a:buNone/>
              <a:defRPr sz="2000" i="1"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D230031-93FC-50BC-76F9-90A026F0873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763" y="1130400"/>
            <a:ext cx="10865960" cy="480053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C4D4C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95D40C19-5571-4E6B-92FB-0DB0321559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6A666AF-0FF4-4744-939E-6225A79AC1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C3F18671-40F8-476D-AA96-093766E4A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DAAADEFE-31C8-48CD-9129-6646A91622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BC19150B-8033-4BB0-A118-14B6BAB797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6763" y="2949575"/>
            <a:ext cx="10848975" cy="2927350"/>
          </a:xfrm>
        </p:spPr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cxnSp>
        <p:nvCxnSpPr>
          <p:cNvPr id="11" name="Gerade Verbindung 10">
            <a:extLst>
              <a:ext uri="{FF2B5EF4-FFF2-40B4-BE49-F238E27FC236}">
                <a16:creationId xmlns:a16="http://schemas.microsoft.com/office/drawing/2014/main" id="{66364703-4655-3A8A-7A24-521B94AB028D}"/>
              </a:ext>
            </a:extLst>
          </p:cNvPr>
          <p:cNvCxnSpPr/>
          <p:nvPr userDrawn="1"/>
        </p:nvCxnSpPr>
        <p:spPr>
          <a:xfrm>
            <a:off x="863269" y="1797050"/>
            <a:ext cx="0" cy="960107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369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3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F9CEA406-B33A-474E-AD25-1543EBC503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CA45CBD-1CCA-4B41-9006-CD2C639229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B5B30B-5CF3-41A4-91A9-CC3AAAC64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167653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Social Media+ww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7090AD0-FD2A-CA7D-BBD5-5B2FCD0D817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240682" cy="6885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136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218396C8-6250-4EB9-A9AF-4941536C768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0" y="0"/>
            <a:ext cx="12250813" cy="689108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408" y="332656"/>
            <a:ext cx="10865960" cy="47783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408" y="1130142"/>
            <a:ext cx="10865960" cy="47467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594" lvl="0" indent="-228594">
              <a:buFont typeface="Wingdings" pitchFamily="2" charset="2"/>
              <a:buChar char="§"/>
            </a:pPr>
            <a:r>
              <a:rPr lang="de-DE" dirty="0"/>
              <a:t>Mastertextformat bearbeiten</a:t>
            </a:r>
          </a:p>
          <a:p>
            <a:pPr marL="685783" lvl="1" indent="-228594">
              <a:buFont typeface="Wingdings" pitchFamily="2" charset="2"/>
              <a:buChar char="§"/>
            </a:pPr>
            <a:r>
              <a:rPr lang="de-DE" dirty="0"/>
              <a:t>Zweite Ebene</a:t>
            </a:r>
          </a:p>
          <a:p>
            <a:pPr marL="1142971" lvl="2" indent="-228594">
              <a:buFont typeface="Wingdings" pitchFamily="2" charset="2"/>
              <a:buChar char="§"/>
            </a:pPr>
            <a:r>
              <a:rPr lang="de-DE" dirty="0"/>
              <a:t>Dritte Ebene</a:t>
            </a:r>
          </a:p>
          <a:p>
            <a:pPr marL="1600160" lvl="3" indent="-228594">
              <a:buFont typeface="Wingdings" pitchFamily="2" charset="2"/>
              <a:buChar char="§"/>
            </a:pPr>
            <a:r>
              <a:rPr lang="de-DE" dirty="0"/>
              <a:t>Vierte Ebene</a:t>
            </a:r>
          </a:p>
          <a:p>
            <a:pPr marL="2057349" lvl="4" indent="-228594">
              <a:buFont typeface="Wingdings" pitchFamily="2" charset="2"/>
              <a:buChar char="§"/>
            </a:pPr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14198" y="6356350"/>
            <a:ext cx="13119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31183" y="6356350"/>
            <a:ext cx="4114799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  <a:latin typeface="+mj-lt"/>
              </a:defRPr>
            </a:lvl1pPr>
          </a:lstStyle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1053" y="6356350"/>
            <a:ext cx="882315" cy="365125"/>
          </a:xfrm>
          <a:prstGeom prst="rect">
            <a:avLst/>
          </a:prstGeom>
        </p:spPr>
        <p:txBody>
          <a:bodyPr anchor="ctr" anchorCtr="1"/>
          <a:lstStyle>
            <a:lvl1pPr>
              <a:defRPr lang="de-DE" sz="1000" smtClean="0">
                <a:solidFill>
                  <a:schemeClr val="accent3"/>
                </a:solidFill>
              </a:defRPr>
            </a:lvl1pPr>
          </a:lstStyle>
          <a:p>
            <a:pPr algn="r"/>
            <a:fld id="{EBA229B5-7CFD-BC45-B1DD-7E8FA6FF2A01}" type="slidenum">
              <a:rPr lang="de-AT" smtClean="0"/>
              <a:pPr algn="r"/>
              <a:t>‹Nr.›</a:t>
            </a:fld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3970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47" r:id="rId2"/>
    <p:sldLayoutId id="2147483708" r:id="rId3"/>
    <p:sldLayoutId id="2147483721" r:id="rId4"/>
    <p:sldLayoutId id="2147483712" r:id="rId5"/>
    <p:sldLayoutId id="2147483713" r:id="rId6"/>
    <p:sldLayoutId id="2147483714" r:id="rId7"/>
    <p:sldLayoutId id="2147483735" r:id="rId8"/>
    <p:sldLayoutId id="2147483720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rgbClr val="4C4D4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dirty="0">
          <a:solidFill>
            <a:srgbClr val="4C4D4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 userDrawn="1">
          <p15:clr>
            <a:srgbClr val="F26B43"/>
          </p15:clr>
        </p15:guide>
        <p15:guide id="2" pos="483" userDrawn="1">
          <p15:clr>
            <a:srgbClr val="F26B43"/>
          </p15:clr>
        </p15:guide>
        <p15:guide id="3" orient="horz" pos="210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20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kYB8IZa5AuE&amp;t=429s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E224137-A41F-F170-C7EC-C6026DC246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b="1" dirty="0"/>
                  <a:t>Definition (lineare Abbildung)</a:t>
                </a:r>
              </a:p>
              <a:p>
                <a:pPr marL="0" indent="0">
                  <a:buNone/>
                </a:pPr>
                <a:r>
                  <a:rPr lang="de-DE" dirty="0"/>
                  <a:t>Seien V,W, K-Vektorräume. Eine Abbildung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de-DE" dirty="0"/>
                  <a:t> heißt linear wenn gilt: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𝛼𝜑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>
                  <a:buFont typeface="Arial" panose="020B0604020202020204" pitchFamily="34" charset="0"/>
                  <a:buChar char="•"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b="1" dirty="0"/>
                  <a:t>Definition (Isomorphismus)</a:t>
                </a:r>
              </a:p>
              <a:p>
                <a:pPr marL="0" indent="0">
                  <a:buNone/>
                </a:pPr>
                <a:r>
                  <a:rPr lang="de-DE" dirty="0"/>
                  <a:t>Eine lineare Abbildung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de-DE" dirty="0"/>
                  <a:t> heißt Isomorphismus, wenn sie bijektiv ist. Damit existiert für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de-DE" dirty="0"/>
                  <a:t> eine Umkehrabbildung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de-AT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de-AT" b="0" i="0" smtClean="0">
                        <a:latin typeface="Cambria Math" panose="02040503050406030204" pitchFamily="18" charset="0"/>
                      </a:rPr>
                      <m:t>W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DE" dirty="0"/>
                  <a:t>.</a:t>
                </a:r>
              </a:p>
              <a:p>
                <a:pPr marL="0" indent="0">
                  <a:buNone/>
                </a:pPr>
                <a:r>
                  <a:rPr lang="de-DE" dirty="0"/>
                  <a:t>Man schreibt für isomorphe Vektorräume: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 ≅</m:t>
                    </m:r>
                    <m:r>
                      <a:rPr lang="de-AT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</m:oMath>
                </a14:m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6E224137-A41F-F170-C7EC-C6026DC246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7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8F4C8A91-A3D7-B2AE-4A3F-E073EB045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Lineare Abbildungen</a:t>
            </a:r>
          </a:p>
        </p:txBody>
      </p:sp>
    </p:spTree>
    <p:extLst>
      <p:ext uri="{BB962C8B-B14F-4D97-AF65-F5344CB8AC3E}">
        <p14:creationId xmlns:p14="http://schemas.microsoft.com/office/powerpoint/2010/main" val="728797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47CDF4BC-BE8F-95EB-09DB-89FAA54285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Ein Vektorräume sind Strukturen, bei welchen zwei Operationen möglich sind:</a:t>
                </a:r>
              </a:p>
              <a:p>
                <a:r>
                  <a:rPr lang="de-DE" dirty="0"/>
                  <a:t>Addition von Vektoren</a:t>
                </a:r>
              </a:p>
              <a:p>
                <a:r>
                  <a:rPr lang="de-DE" dirty="0"/>
                  <a:t>Skalare Multiplikation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Man hätte ja jeweils ein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de-DE" dirty="0"/>
                  <a:t> in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AT" b="0" dirty="0"/>
                  <a:t>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47CDF4BC-BE8F-95EB-09DB-89FAA54285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7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83B53856-8EE9-AF09-69BE-DBFBDE949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Veranschaulichung: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6793FD5-F9D7-5792-2F54-16D6DFA494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038" y="1663134"/>
            <a:ext cx="6310184" cy="2165872"/>
          </a:xfrm>
          <a:prstGeom prst="rect">
            <a:avLst/>
          </a:prstGeom>
        </p:spPr>
      </p:pic>
      <p:cxnSp>
        <p:nvCxnSpPr>
          <p:cNvPr id="5" name="Gerade Verbindung mit Pfeil 4">
            <a:extLst>
              <a:ext uri="{FF2B5EF4-FFF2-40B4-BE49-F238E27FC236}">
                <a16:creationId xmlns:a16="http://schemas.microsoft.com/office/drawing/2014/main" id="{AFA15A6D-2267-5D19-F2D6-70CF9BBAEF89}"/>
              </a:ext>
            </a:extLst>
          </p:cNvPr>
          <p:cNvCxnSpPr/>
          <p:nvPr/>
        </p:nvCxnSpPr>
        <p:spPr>
          <a:xfrm flipV="1">
            <a:off x="4744995" y="2746070"/>
            <a:ext cx="902043" cy="7574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8906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C2E71-552E-B776-A2E1-E92EBBAC7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6DA96DB-D8A8-50BA-75F8-7FE81A3D5C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Ein Vektorräume sind Strukturen, bei welchen zwei Operationen möglich sind:</a:t>
                </a:r>
              </a:p>
              <a:p>
                <a:r>
                  <a:rPr lang="de-DE" dirty="0"/>
                  <a:t>Addition von Vektoren</a:t>
                </a:r>
              </a:p>
              <a:p>
                <a:r>
                  <a:rPr lang="de-DE" dirty="0"/>
                  <a:t>Skalare Multiplikation</a:t>
                </a:r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DE" dirty="0"/>
                  <a:t>Man hätte ja jeweils ein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</m:oMath>
                </a14:m>
                <a:r>
                  <a:rPr lang="de-DE" dirty="0"/>
                  <a:t> in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  <a:p>
                <a:pPr marL="0" indent="0">
                  <a:buNone/>
                </a:pPr>
                <a:r>
                  <a:rPr lang="de-AT" b="0" dirty="0"/>
                  <a:t>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B6DA96DB-D8A8-50BA-75F8-7FE81A3D5C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7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3A0490E5-32A2-BD1D-88B3-C85CA7873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Veranschaulichung: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71D4D6F-A28B-0DDA-8886-FD389A7DDD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038" y="1663134"/>
            <a:ext cx="6310184" cy="216587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AF6458A3-1380-28B4-AE32-BBFEB5D9A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7039" y="3829006"/>
            <a:ext cx="6310183" cy="2176647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C276623A-5693-B06F-EE09-BF15E5C56598}"/>
              </a:ext>
            </a:extLst>
          </p:cNvPr>
          <p:cNvCxnSpPr>
            <a:endCxn id="4" idx="1"/>
          </p:cNvCxnSpPr>
          <p:nvPr/>
        </p:nvCxnSpPr>
        <p:spPr>
          <a:xfrm flipV="1">
            <a:off x="4744995" y="2746070"/>
            <a:ext cx="902043" cy="7574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rade Verbindung mit Pfeil 7">
            <a:extLst>
              <a:ext uri="{FF2B5EF4-FFF2-40B4-BE49-F238E27FC236}">
                <a16:creationId xmlns:a16="http://schemas.microsoft.com/office/drawing/2014/main" id="{36928DB1-EFD1-5328-9E58-5A3F6DD1236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637903" y="3666269"/>
            <a:ext cx="1009136" cy="125106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88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50716232-5597-428C-F7C2-7B68429528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de-DE" dirty="0"/>
                  <a:t>Jede Matrix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𝑀𝑎</m:t>
                    </m:r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de-DE" dirty="0"/>
                  <a:t> definiert durch Matrixmultiplikation von links eine lineare Abbildung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de-AT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de-AT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de-AT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de-AT" b="0" i="1" smtClean="0">
                        <a:latin typeface="Cambria Math" panose="02040503050406030204" pitchFamily="18" charset="0"/>
                      </a:rPr>
                      <m:t>𝐴𝑐</m:t>
                    </m:r>
                  </m:oMath>
                </a14:m>
                <a:r>
                  <a:rPr lang="de-DE" dirty="0"/>
                  <a:t> </a:t>
                </a:r>
              </a:p>
              <a:p>
                <a:pPr marL="0" indent="0">
                  <a:buNone/>
                </a:pPr>
                <a:r>
                  <a:rPr lang="de-DE" dirty="0"/>
                  <a:t>Zudem ist dann </a:t>
                </a:r>
                <a14:m>
                  <m:oMath xmlns:m="http://schemas.openxmlformats.org/officeDocument/2006/math">
                    <m:r>
                      <a:rPr lang="de-AT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de-AT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{"/>
                        <m:endChr m:val="}"/>
                        <m:ctrlPr>
                          <a:rPr lang="de-AT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A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de-A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de-DE" dirty="0"/>
              </a:p>
              <a:p>
                <a:pPr marL="0" indent="0">
                  <a:buNone/>
                </a:pPr>
                <a:endParaRPr lang="de-DE" dirty="0"/>
              </a:p>
            </p:txBody>
          </p:sp>
        </mc:Choice>
        <mc:Fallback>
          <p:sp>
            <p:nvSpPr>
              <p:cNvPr id="2" name="Inhaltsplatzhalter 1">
                <a:extLst>
                  <a:ext uri="{FF2B5EF4-FFF2-40B4-BE49-F238E27FC236}">
                    <a16:creationId xmlns:a16="http://schemas.microsoft.com/office/drawing/2014/main" id="{50716232-5597-428C-F7C2-7B68429528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67" t="-1067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EAC0C692-5B03-24B5-C03B-38D70A17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Satz + Beispiel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B38C634-22FA-C6A6-1723-26AC3A196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408" y="3429000"/>
            <a:ext cx="6540500" cy="1282700"/>
          </a:xfrm>
          <a:prstGeom prst="rect">
            <a:avLst/>
          </a:prstGeom>
        </p:spPr>
      </p:pic>
      <p:cxnSp>
        <p:nvCxnSpPr>
          <p:cNvPr id="6" name="Gerade Verbindung mit Pfeil 5">
            <a:extLst>
              <a:ext uri="{FF2B5EF4-FFF2-40B4-BE49-F238E27FC236}">
                <a16:creationId xmlns:a16="http://schemas.microsoft.com/office/drawing/2014/main" id="{9D6FA6F6-8889-A285-4C48-CD7FEB8C8117}"/>
              </a:ext>
            </a:extLst>
          </p:cNvPr>
          <p:cNvCxnSpPr/>
          <p:nvPr/>
        </p:nvCxnSpPr>
        <p:spPr>
          <a:xfrm>
            <a:off x="2594919" y="2236573"/>
            <a:ext cx="0" cy="10750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Gewinkelte Verbindung 7">
            <a:extLst>
              <a:ext uri="{FF2B5EF4-FFF2-40B4-BE49-F238E27FC236}">
                <a16:creationId xmlns:a16="http://schemas.microsoft.com/office/drawing/2014/main" id="{CE0134F3-89EE-7D7B-C7C6-8B8795CBB1D6}"/>
              </a:ext>
            </a:extLst>
          </p:cNvPr>
          <p:cNvCxnSpPr>
            <a:cxnSpLocks/>
            <a:stCxn id="4" idx="2"/>
          </p:cNvCxnSpPr>
          <p:nvPr/>
        </p:nvCxnSpPr>
        <p:spPr>
          <a:xfrm rot="16200000" flipH="1">
            <a:off x="4148917" y="4600440"/>
            <a:ext cx="1016158" cy="1238677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feld 8">
            <a:extLst>
              <a:ext uri="{FF2B5EF4-FFF2-40B4-BE49-F238E27FC236}">
                <a16:creationId xmlns:a16="http://schemas.microsoft.com/office/drawing/2014/main" id="{9F02D56F-C232-A01C-89E5-F6645D7E59F8}"/>
              </a:ext>
            </a:extLst>
          </p:cNvPr>
          <p:cNvSpPr txBox="1"/>
          <p:nvPr/>
        </p:nvSpPr>
        <p:spPr>
          <a:xfrm>
            <a:off x="5281400" y="5543193"/>
            <a:ext cx="6566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Das gibt uns genau die Existenz einer eindeutigen </a:t>
            </a:r>
            <a:r>
              <a:rPr lang="de-DE" b="1" dirty="0"/>
              <a:t>Abbildungsmatrix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82735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998E0-61C9-8DA7-BF4B-162935DFF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Basistransformation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1574422-7AA9-AF4E-0C15-C8CD08FD42E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4C8714-E740-C76C-A1C9-5379DAB92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AF19F2-80A5-C6D3-4B1F-99CC17DAD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5</a:t>
            </a:fld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55A50B7-1092-4326-9ACB-DB09E7333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914399"/>
            <a:ext cx="6509158" cy="3602855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0D7423D-3F95-374E-A4AE-F7868F1FD71C}"/>
              </a:ext>
            </a:extLst>
          </p:cNvPr>
          <p:cNvSpPr txBox="1"/>
          <p:nvPr/>
        </p:nvSpPr>
        <p:spPr>
          <a:xfrm>
            <a:off x="884903" y="5076866"/>
            <a:ext cx="5668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hlinkClick r:id="rId3"/>
              </a:rPr>
              <a:t>https://www.youtube.com/watch?v=kYB8IZa5AuE&amp;t=429s</a:t>
            </a:r>
            <a:r>
              <a:rPr lang="de-DE" dirty="0"/>
              <a:t> 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393FB4E-9558-4705-32CB-08BB1E123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464" y="314366"/>
            <a:ext cx="37973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21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7EDEA6-7F0B-80BE-6D3E-D675550A9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Beispiele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161FE52-3EF0-24AF-A87B-7DCC676C736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60F78CF-3299-7C93-904F-94B806AED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DB86C1E-6321-61F0-4209-D4A708086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6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A8F22B3-6366-0C58-3BA4-BC2BF85DF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217470"/>
            <a:ext cx="6692900" cy="3517900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97075A2A-445E-848C-9B78-7245A6F7B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5987" y="2069524"/>
            <a:ext cx="1549400" cy="723900"/>
          </a:xfrm>
          <a:prstGeom prst="rect">
            <a:avLst/>
          </a:prstGeom>
        </p:spPr>
      </p:pic>
      <p:cxnSp>
        <p:nvCxnSpPr>
          <p:cNvPr id="10" name="Gerade Verbindung mit Pfeil 9">
            <a:extLst>
              <a:ext uri="{FF2B5EF4-FFF2-40B4-BE49-F238E27FC236}">
                <a16:creationId xmlns:a16="http://schemas.microsoft.com/office/drawing/2014/main" id="{A8B3AEA3-CB14-B58C-E198-3A6AF713EB90}"/>
              </a:ext>
            </a:extLst>
          </p:cNvPr>
          <p:cNvCxnSpPr>
            <a:stCxn id="8" idx="1"/>
          </p:cNvCxnSpPr>
          <p:nvPr/>
        </p:nvCxnSpPr>
        <p:spPr>
          <a:xfrm flipH="1">
            <a:off x="5461686" y="2431474"/>
            <a:ext cx="3514301" cy="31172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8721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4D90F0-E96B-7040-6FAC-7996D9D86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Transformationsmatrix entwickeln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8B3FD39-3425-B069-BFF5-4B5D6BC4741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9FDE6CC-3E46-774A-861E-BA51C5AB0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1755266-21BB-038C-9313-F2EA2E39B8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7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F4B15FB4-3D6C-0EC1-AC3C-6992F3D39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150180"/>
            <a:ext cx="6616700" cy="402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173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F9D541-C186-D33E-59DF-4F78ABD73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Darstellungsmatrix entwickeln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874DDE5-A929-53BC-CFBA-F4492D1E8BC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91CA12-C3B3-8C21-1D4D-962D48E75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DFD2CA5-02B9-15FE-A286-6F6A852EBE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8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24E4294-0781-F707-01F6-DBB0C95B0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810494"/>
            <a:ext cx="6946900" cy="4838700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CC5E8A89-5C83-EFF5-718D-0130C8E94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6111" y="2993757"/>
            <a:ext cx="5770397" cy="21334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2170648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8046DA-30E0-D1BE-DCD8-6B70857D8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Transformationsmatrizen und Darstellungsmatrizen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36770AC-DF56-CB59-B937-6EB6D09322A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A2FC40C-8FB8-08C3-F3EC-6AE1C8FE5B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B0CCE65-353C-34FF-2C3D-4ADA41750C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9</a:t>
            </a:fld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2B41A95-5637-1630-3014-49DE1E9CC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89" y="1046249"/>
            <a:ext cx="6883400" cy="389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91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B5DA2A-2740-818A-3CA9-34AEFFF27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Definition Kern und Bild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1C347A6-9083-57DD-2DF9-A6A47630996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ctr"/>
            <a:fld id="{7C3CDC0F-71BF-B840-812C-9588125E0BFE}" type="datetime6">
              <a:rPr lang="de-AT" smtClean="0"/>
              <a:pPr algn="ctr"/>
              <a:t>Jänner 25</a:t>
            </a:fld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9D362C3-C254-4A65-34C3-0F3132C5EA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algn="ctr"/>
            <a:r>
              <a:rPr lang="de-AT"/>
              <a:t>Titel oder Vortragender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D2E9A59-B0A6-C7CA-0F5C-3FE1A4A459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algn="r"/>
            <a:fld id="{EBA229B5-7CFD-BC45-B1DD-7E8FA6FF2A01}" type="slidenum">
              <a:rPr lang="de-AT" smtClean="0"/>
              <a:pPr algn="r"/>
              <a:t>10</a:t>
            </a:fld>
            <a:endParaRPr lang="de-AT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C0954B0-B944-9AB5-0E89-C98565C61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889" y="1084005"/>
            <a:ext cx="6839775" cy="311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741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uibk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3361"/>
      </a:accent1>
      <a:accent2>
        <a:srgbClr val="F392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��
</file>

<file path=customXml/itemProps1.xml><?xml version="1.0" encoding="utf-8"?>
<ds:datastoreItem xmlns:ds="http://schemas.openxmlformats.org/officeDocument/2006/customXml" ds:itemID="{61E5F9E1-5A31-44B6-82D3-CDBA1960149B}">
  <ds:schemaRefs>
    <ds:schemaRef ds:uri="http://www.w3.org/2001/XMLSchema"/>
    <ds:schemaRef ds:uri="http://www.zhaw.ch/AccessibilityAddI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311</Words>
  <Application>Microsoft Macintosh PowerPoint</Application>
  <PresentationFormat>Breitbild</PresentationFormat>
  <Paragraphs>56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Wingdings</vt:lpstr>
      <vt:lpstr>Office</vt:lpstr>
      <vt:lpstr>Lineare Abbildungen</vt:lpstr>
      <vt:lpstr>Veranschaulichung:</vt:lpstr>
      <vt:lpstr>Veranschaulichung:</vt:lpstr>
      <vt:lpstr>Satz + Beispiel</vt:lpstr>
      <vt:lpstr>Basistransformation</vt:lpstr>
      <vt:lpstr>Beispiele</vt:lpstr>
      <vt:lpstr>Transformationsmatrix entwickeln</vt:lpstr>
      <vt:lpstr>Darstellungsmatrix entwickeln</vt:lpstr>
      <vt:lpstr>Transformationsmatrizen und Darstellungsmatrizen</vt:lpstr>
      <vt:lpstr>Definition Kern und Bild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Microsoft Office-Anwender</dc:creator>
  <cp:lastModifiedBy>Lukas Marian Meinschad</cp:lastModifiedBy>
  <cp:revision>146</cp:revision>
  <dcterms:created xsi:type="dcterms:W3CDTF">2017-06-06T07:41:45Z</dcterms:created>
  <dcterms:modified xsi:type="dcterms:W3CDTF">2025-01-07T08:27:09Z</dcterms:modified>
</cp:coreProperties>
</file>